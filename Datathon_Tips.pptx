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TsNkDwP2QCrdcV6Atd527A+F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23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5A8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0" y="27432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7315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Impact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DATATHON MASTERY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400"/>
              <a:buFont typeface="Georgia"/>
              <a:buNone/>
            </a:pPr>
            <a:r>
              <a:rPr b="0" i="1" lang="en-US" sz="2400" u="none" cap="none" strike="noStrike">
                <a:solidFill>
                  <a:srgbClr val="00D9FF"/>
                </a:solidFill>
                <a:latin typeface="Georgia"/>
                <a:ea typeface="Georgia"/>
                <a:cs typeface="Georgia"/>
                <a:sym typeface="Georgia"/>
              </a:rPr>
              <a:t>Tips &amp; Tricks for Winning Teams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286000" y="3840480"/>
            <a:ext cx="4572000" cy="457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7F9FB"/>
                </a:solidFill>
                <a:latin typeface="Calibri"/>
                <a:ea typeface="Calibri"/>
                <a:cs typeface="Calibri"/>
                <a:sym typeface="Calibri"/>
              </a:rPr>
              <a:t>Data Cleaning • EDA • Business Impact • Stakeholder Communication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Workshop Roadmap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40080" y="14401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40080" y="14401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mpac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80160" y="139446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5316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201168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Data Cleaning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011680" y="1719072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Handle missing values, outliers, and data quality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40080" y="23088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40080" y="23088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mpac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80160" y="226314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7320" y="24003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201168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Exploratory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011680" y="2587752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Uncover patterns and insights through visualization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40080" y="31775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mpac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80160" y="313182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7320" y="32689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2011680" y="3154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 Questions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011680" y="3456432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Transform data into actionable recommendations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40080" y="404622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40080" y="40462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mpac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280160" y="40005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7320" y="41376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2011674" y="4023350"/>
            <a:ext cx="374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Stakeholder Presentations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011680" y="4325112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Communicate insights to non-technical audiences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Why Data Cleaning Matters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1188720"/>
            <a:ext cx="3840480" cy="20116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40080" y="146304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8800"/>
              <a:buFont typeface="Impact"/>
              <a:buNone/>
            </a:pPr>
            <a:r>
              <a:rPr b="1" i="0" lang="en-US" sz="8800" u="none" cap="none" strike="noStrike">
                <a:solidFill>
                  <a:srgbClr val="00D9FF"/>
                </a:solidFill>
                <a:latin typeface="Impact"/>
                <a:ea typeface="Impact"/>
                <a:cs typeface="Impact"/>
                <a:sym typeface="Impact"/>
              </a:rPr>
              <a:t>80%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24688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data science work 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preparation &amp; cleaning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Common Data Issues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754880" y="1783080"/>
            <a:ext cx="182880" cy="18288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074920" y="17373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Missing values (NaN, NULL)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54880" y="2103120"/>
            <a:ext cx="182880" cy="18288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074920" y="20574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Wrong data types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754880" y="2423160"/>
            <a:ext cx="182880" cy="18288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074920" y="23774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Duplicate records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54880" y="2743200"/>
            <a:ext cx="182880" cy="18288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074920" y="2697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Outliers &amp; anomalies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54880" y="3063240"/>
            <a:ext cx="182880" cy="18288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074920" y="30175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Inconsistent formatting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00D9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703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1371600" y="3566160"/>
            <a:ext cx="7040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Georgia"/>
              <a:buNone/>
            </a:pPr>
            <a:r>
              <a:rPr b="1" i="1" lang="en-US" sz="20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Clean data = Better insights = Winning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Data Cleaning Workflow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57200" y="1188720"/>
            <a:ext cx="20574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57200" y="1188720"/>
            <a:ext cx="20574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3600"/>
              <a:buFont typeface="Impact"/>
              <a:buNone/>
            </a:pPr>
            <a:r>
              <a:rPr b="1" i="0" lang="en-US" sz="3600" u="none" cap="none" strike="noStrike">
                <a:solidFill>
                  <a:srgbClr val="00D9FF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828800" y="1325880"/>
            <a:ext cx="548640" cy="548640"/>
          </a:xfrm>
          <a:prstGeom prst="ellipse">
            <a:avLst/>
          </a:prstGeom>
          <a:solidFill>
            <a:srgbClr val="00D9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640080" y="2103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Inspect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85750" y="2699073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868680" y="2606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Check shape &amp;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85750" y="3046545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868680" y="2953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View first/last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85750" y="3394017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868680" y="33009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Identify missing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651760" y="1188720"/>
            <a:ext cx="20574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651760" y="1188720"/>
            <a:ext cx="2057400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834640" y="1325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3600"/>
              <a:buFont typeface="Impact"/>
              <a:buNone/>
            </a:pPr>
            <a:r>
              <a:rPr b="1" i="0" lang="en-US" sz="3600" u="none" cap="none" strike="noStrike">
                <a:solidFill>
                  <a:srgbClr val="00D9FF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023360" y="1325880"/>
            <a:ext cx="548640" cy="548640"/>
          </a:xfrm>
          <a:prstGeom prst="ellipse">
            <a:avLst/>
          </a:prstGeom>
          <a:solidFill>
            <a:srgbClr val="00D9FF">
              <a:alpha val="8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2747763" y="2126013"/>
            <a:ext cx="186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Handle Missing</a:t>
            </a:r>
            <a:endParaRPr b="1" i="0" sz="1800" u="none" cap="none" strike="noStrike">
              <a:solidFill>
                <a:srgbClr val="0A223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Values</a:t>
            </a:r>
            <a:endParaRPr b="1" sz="1800">
              <a:solidFill>
                <a:srgbClr val="0A223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880310" y="2737923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063240" y="2606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Drop or impute NaNs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880335" y="3046495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3063240" y="2953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Fill with mean/median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880335" y="3402379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063240" y="33009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Create indicators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46320" y="1188720"/>
            <a:ext cx="20574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846320" y="1188720"/>
            <a:ext cx="20574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029200" y="1325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3600"/>
              <a:buFont typeface="Impact"/>
              <a:buNone/>
            </a:pPr>
            <a:r>
              <a:rPr b="1" i="0" lang="en-US" sz="3600" u="none" cap="none" strike="noStrike">
                <a:solidFill>
                  <a:srgbClr val="00D9FF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217920" y="1325880"/>
            <a:ext cx="548640" cy="548640"/>
          </a:xfrm>
          <a:prstGeom prst="ellipse">
            <a:avLst/>
          </a:prstGeom>
          <a:solidFill>
            <a:srgbClr val="00D9FF">
              <a:alpha val="8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5029200" y="2103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Fix Types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74920" y="2697485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257800" y="2606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Convert data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74920" y="3044957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257800" y="2953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Parse 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074920" y="3392429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257800" y="33009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Encode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040880" y="1188720"/>
            <a:ext cx="20574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040880" y="1188720"/>
            <a:ext cx="2057400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7223760" y="1325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3600"/>
              <a:buFont typeface="Impact"/>
              <a:buNone/>
            </a:pPr>
            <a:r>
              <a:rPr b="1" i="0" lang="en-US" sz="3600" u="none" cap="none" strike="noStrike">
                <a:solidFill>
                  <a:srgbClr val="00D9FF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412480" y="1325880"/>
            <a:ext cx="548640" cy="548640"/>
          </a:xfrm>
          <a:prstGeom prst="ellipse">
            <a:avLst/>
          </a:prstGeom>
          <a:solidFill>
            <a:srgbClr val="00D9FF">
              <a:alpha val="8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392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7223760" y="2103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Clean Outliers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269505" y="2707510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7452360" y="2606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Detect outliers (IQR)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269505" y="3054982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452360" y="2953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Cap extreme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269505" y="3402454"/>
            <a:ext cx="109800" cy="1098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7452360" y="33009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Remove 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57200" y="109728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Exploratory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Analysis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7200" y="2834603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00D9FF"/>
                </a:solidFill>
                <a:latin typeface="Georgia"/>
                <a:ea typeface="Georgia"/>
                <a:cs typeface="Georgia"/>
                <a:sym typeface="Georgia"/>
              </a:rPr>
              <a:t>The detective work that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00D9FF"/>
                </a:solidFill>
                <a:latin typeface="Georgia"/>
                <a:ea typeface="Georgia"/>
                <a:cs typeface="Georgia"/>
                <a:sym typeface="Georgia"/>
              </a:rPr>
              <a:t>uncovers hidden insights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4846320" y="1097280"/>
            <a:ext cx="3931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846320" y="1097280"/>
            <a:ext cx="13716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120640" y="1234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Univariate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120640" y="153619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Individual variable distributions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846320" y="1965960"/>
            <a:ext cx="3931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846320" y="1965960"/>
            <a:ext cx="137160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120640" y="21031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Bivariate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120640" y="240487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Relationships &amp; correlations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846320" y="2834640"/>
            <a:ext cx="3931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846320" y="2834640"/>
            <a:ext cx="137160" cy="777240"/>
          </a:xfrm>
          <a:prstGeom prst="rect">
            <a:avLst/>
          </a:prstGeom>
          <a:solidFill>
            <a:srgbClr val="0D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5120640" y="2971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Multivariate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120640" y="32735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Complex patterns &amp; clustering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846320" y="3703320"/>
            <a:ext cx="3931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846320" y="3703320"/>
            <a:ext cx="13716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120640" y="3840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Time Series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120640" y="41422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Trends &amp; seasonality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Essential Visualizations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" y="12801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94360" y="1325880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71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960120" y="1280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Histograms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40080" y="1828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Distribution &amp; spread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337560" y="12801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3337560" y="1280160"/>
            <a:ext cx="274320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3474720" y="1325880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1371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3840480" y="1280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Box Plots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520440" y="1828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Outliers &amp; quartiles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217920" y="12801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217920" y="1280160"/>
            <a:ext cx="274320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6355080" y="1325880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371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/>
          <p:nvPr/>
        </p:nvSpPr>
        <p:spPr>
          <a:xfrm>
            <a:off x="6720840" y="1280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Scatter Plots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7200" y="26517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94360" y="2697480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2743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960120" y="26517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Heatmaps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Correlation matrices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337560" y="26517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3337560" y="2651760"/>
            <a:ext cx="274320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474720" y="2697480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20440" y="2743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3840480" y="26517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Bar Charts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520440" y="3200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Category comparison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217920" y="2651760"/>
            <a:ext cx="2743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6217920" y="2651760"/>
            <a:ext cx="274320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355080" y="2697480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0" y="2743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6720840" y="26517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Line Plots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400800" y="3200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239"/>
                </a:solidFill>
                <a:latin typeface="Calibri"/>
                <a:ea typeface="Calibri"/>
                <a:cs typeface="Calibri"/>
                <a:sym typeface="Calibri"/>
              </a:rPr>
              <a:t>Time series trends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Answering Business Questions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57200" y="987545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5F7A8A"/>
                </a:solidFill>
                <a:latin typeface="Georgia"/>
                <a:ea typeface="Georgia"/>
                <a:cs typeface="Georgia"/>
                <a:sym typeface="Georgia"/>
              </a:rPr>
              <a:t>Transform insights into actionable value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mpac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645920" y="1463040"/>
            <a:ext cx="70408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1828800" y="1554480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 the Question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828800" y="1810512"/>
            <a:ext cx="6675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What decision needs to be made?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31520" y="212140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31520" y="212140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mpac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645920" y="2121408"/>
            <a:ext cx="70408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828800" y="2212848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Relevant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828800" y="2468880"/>
            <a:ext cx="6675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Which features matter most?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31520" y="2779776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731520" y="2779776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mpac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645920" y="2779776"/>
            <a:ext cx="70408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1828800" y="2871216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 &amp; Quantify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828800" y="3127248"/>
            <a:ext cx="6675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Use statistics and comparisons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31520" y="3438144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731520" y="3438144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mpac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645920" y="3438144"/>
            <a:ext cx="70408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1828800" y="3529584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 Results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828800" y="3785616"/>
            <a:ext cx="6675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Check for biases and edge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731520" y="4096512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731520" y="40965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mpact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645920" y="4096512"/>
            <a:ext cx="70408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1828800" y="4187952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Craft the Answer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828800" y="4443984"/>
            <a:ext cx="6675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Clear, specific, actionable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Stakeholder Communication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5F7A8A"/>
                </a:solidFill>
                <a:latin typeface="Georgia"/>
                <a:ea typeface="Georgia"/>
                <a:cs typeface="Georgia"/>
                <a:sym typeface="Georgia"/>
              </a:rPr>
              <a:t>Present insights to non-technical audiences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57200" y="146304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783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/>
          <p:nvPr/>
        </p:nvSpPr>
        <p:spPr>
          <a:xfrm>
            <a:off x="1463040" y="16916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Lead with Insight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31520" y="22677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What you found, not how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337560" y="146304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611880" y="164592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1783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4343400" y="16916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Visual Storytelling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611880" y="22677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Charts beat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217920" y="146304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1783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/>
          <p:nvPr/>
        </p:nvSpPr>
        <p:spPr>
          <a:xfrm>
            <a:off x="7223760" y="16916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Avoid Jargon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492240" y="22677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Plain language wins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57200" y="288036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3200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/>
          <p:nvPr/>
        </p:nvSpPr>
        <p:spPr>
          <a:xfrm>
            <a:off x="1463040" y="31089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Quantify Impact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731520" y="3685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Show ROI &amp;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337560" y="288036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3611880" y="306324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9040" y="3200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8"/>
          <p:cNvSpPr/>
          <p:nvPr/>
        </p:nvSpPr>
        <p:spPr>
          <a:xfrm>
            <a:off x="4343400" y="31089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Actionable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611880" y="3685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What should they do?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217920" y="288036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6492240" y="306324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3200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/>
          <p:nvPr/>
        </p:nvSpPr>
        <p:spPr>
          <a:xfrm>
            <a:off x="7223760" y="31089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Prepare for Q&amp;A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492240" y="3685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Know your 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457200" y="365750"/>
            <a:ext cx="8494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Winning Presentation Structure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1069848" y="1554480"/>
            <a:ext cx="137160" cy="1371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1115568" y="1691640"/>
            <a:ext cx="45720" cy="502920"/>
          </a:xfrm>
          <a:prstGeom prst="rect">
            <a:avLst/>
          </a:prstGeom>
          <a:solidFill>
            <a:srgbClr val="5F7A8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1463040" y="1280160"/>
            <a:ext cx="72237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1737360" y="13898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1737360" y="16916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Define the business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7589520" y="1463040"/>
            <a:ext cx="914400" cy="365760"/>
          </a:xfrm>
          <a:prstGeom prst="rect">
            <a:avLst/>
          </a:prstGeom>
          <a:solidFill>
            <a:srgbClr val="00D9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7589520" y="14630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Impact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30s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069848" y="2286000"/>
            <a:ext cx="137160" cy="1371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1115568" y="2423160"/>
            <a:ext cx="45720" cy="502920"/>
          </a:xfrm>
          <a:prstGeom prst="rect">
            <a:avLst/>
          </a:prstGeom>
          <a:solidFill>
            <a:srgbClr val="5F7A8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1463040" y="2011680"/>
            <a:ext cx="72237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1737360" y="21214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Key Findings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1737360" y="24231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Top 2-3 insights discovered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7589520" y="2194560"/>
            <a:ext cx="914400" cy="365760"/>
          </a:xfrm>
          <a:prstGeom prst="rect">
            <a:avLst/>
          </a:prstGeom>
          <a:solidFill>
            <a:srgbClr val="00D9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7589520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Impact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60s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1069848" y="3017520"/>
            <a:ext cx="137160" cy="1371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1115568" y="3154680"/>
            <a:ext cx="45720" cy="502920"/>
          </a:xfrm>
          <a:prstGeom prst="rect">
            <a:avLst/>
          </a:prstGeom>
          <a:solidFill>
            <a:srgbClr val="5F7A8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1463040" y="2743200"/>
            <a:ext cx="72237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1737360" y="2852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Evidence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737360" y="31546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Charts &amp; metrics that prove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589520" y="2926080"/>
            <a:ext cx="914400" cy="365760"/>
          </a:xfrm>
          <a:prstGeom prst="rect">
            <a:avLst/>
          </a:prstGeom>
          <a:solidFill>
            <a:srgbClr val="00D9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7589520" y="2926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Impact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90s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1069848" y="3749040"/>
            <a:ext cx="137160" cy="1371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1115568" y="3886200"/>
            <a:ext cx="45720" cy="502920"/>
          </a:xfrm>
          <a:prstGeom prst="rect">
            <a:avLst/>
          </a:prstGeom>
          <a:solidFill>
            <a:srgbClr val="5F7A8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1463040" y="3474720"/>
            <a:ext cx="72237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1737360" y="35844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1737360" y="38862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Clear 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589520" y="3657600"/>
            <a:ext cx="914400" cy="365760"/>
          </a:xfrm>
          <a:prstGeom prst="rect">
            <a:avLst/>
          </a:prstGeom>
          <a:solidFill>
            <a:srgbClr val="00D9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7589520" y="36576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Impact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45s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069848" y="4480560"/>
            <a:ext cx="137160" cy="1371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1463040" y="4206240"/>
            <a:ext cx="72237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1737360" y="43159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Q&amp;A Prep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737360" y="461772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Anticipate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7589520" y="4389120"/>
            <a:ext cx="914400" cy="365760"/>
          </a:xfrm>
          <a:prstGeom prst="rect">
            <a:avLst/>
          </a:prstGeom>
          <a:solidFill>
            <a:srgbClr val="00D9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7589520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600"/>
              <a:buFont typeface="Impact"/>
              <a:buNone/>
            </a:pPr>
            <a:r>
              <a:rPr b="1" i="0" lang="en-US" sz="16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249500" y="365750"/>
            <a:ext cx="8728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Datathon Pitfalls &amp; Best Practices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FFF0F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98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0"/>
          <p:cNvSpPr/>
          <p:nvPr/>
        </p:nvSpPr>
        <p:spPr>
          <a:xfrm>
            <a:off x="960120" y="11887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AVOID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731520" y="17373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1F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D1F2C"/>
                </a:solidFill>
                <a:latin typeface="Calibri"/>
                <a:ea typeface="Calibri"/>
                <a:cs typeface="Calibri"/>
                <a:sym typeface="Calibri"/>
              </a:rPr>
              <a:t>•  Skipping data quality checks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31520" y="199339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1F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D1F2C"/>
                </a:solidFill>
                <a:latin typeface="Calibri"/>
                <a:ea typeface="Calibri"/>
                <a:cs typeface="Calibri"/>
                <a:sym typeface="Calibri"/>
              </a:rPr>
              <a:t>•  Overcomplicating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731520" y="224942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1F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D1F2C"/>
                </a:solidFill>
                <a:latin typeface="Calibri"/>
                <a:ea typeface="Calibri"/>
                <a:cs typeface="Calibri"/>
                <a:sym typeface="Calibri"/>
              </a:rPr>
              <a:t>•  Waiting until last minute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731520" y="250545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1F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D1F2C"/>
                </a:solidFill>
                <a:latin typeface="Calibri"/>
                <a:ea typeface="Calibri"/>
                <a:cs typeface="Calibri"/>
                <a:sym typeface="Calibri"/>
              </a:rPr>
              <a:t>•  Ignoring business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0FF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298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0"/>
          <p:cNvSpPr/>
          <p:nvPr/>
        </p:nvSpPr>
        <p:spPr>
          <a:xfrm>
            <a:off x="5257800" y="11887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BEST PRACTICES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029200" y="17373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A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5A3C"/>
                </a:solidFill>
                <a:latin typeface="Calibri"/>
                <a:ea typeface="Calibri"/>
                <a:cs typeface="Calibri"/>
                <a:sym typeface="Calibri"/>
              </a:rPr>
              <a:t>•  Start with thorough 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029200" y="199339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A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5A3C"/>
                </a:solidFill>
                <a:latin typeface="Calibri"/>
                <a:ea typeface="Calibri"/>
                <a:cs typeface="Calibri"/>
                <a:sym typeface="Calibri"/>
              </a:rPr>
              <a:t>•  Document your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5029200" y="224942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A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5A3C"/>
                </a:solidFill>
                <a:latin typeface="Calibri"/>
                <a:ea typeface="Calibri"/>
                <a:cs typeface="Calibri"/>
                <a:sym typeface="Calibri"/>
              </a:rPr>
              <a:t>•  Focus on business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029200" y="250545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A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5A3C"/>
                </a:solidFill>
                <a:latin typeface="Calibri"/>
                <a:ea typeface="Calibri"/>
                <a:cs typeface="Calibri"/>
                <a:sym typeface="Calibri"/>
              </a:rPr>
              <a:t>•  Practice presentation early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2186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0"/>
          <p:cNvSpPr/>
          <p:nvPr/>
        </p:nvSpPr>
        <p:spPr>
          <a:xfrm>
            <a:off x="960120" y="310896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Time Management (8-hour datathon)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731520" y="3657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Hours 1-2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731520" y="391363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Data cleaning &amp; initial EDA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2743200" y="3657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Hours 3-4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2743200" y="391363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Deep analysis &amp; visualization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754880" y="3657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Hours 5-6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4754880" y="391363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Answer business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766560" y="3657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Hours 7-8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6766560" y="391363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Create &amp; practice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Essential Toolkit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457200" y="1280160"/>
            <a:ext cx="2926080" cy="777240"/>
          </a:xfrm>
          <a:prstGeom prst="rect">
            <a:avLst/>
          </a:prstGeom>
          <a:solidFill>
            <a:srgbClr val="065A82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36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1"/>
          <p:cNvSpPr/>
          <p:nvPr/>
        </p:nvSpPr>
        <p:spPr>
          <a:xfrm>
            <a:off x="1097280" y="128016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Data Manipulation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3566160" y="128016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pandas  •  numpy  •  polars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457200" y="2148840"/>
            <a:ext cx="2926080" cy="777240"/>
          </a:xfrm>
          <a:prstGeom prst="rect">
            <a:avLst/>
          </a:prstGeom>
          <a:solidFill>
            <a:srgbClr val="1C7293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404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1"/>
          <p:cNvSpPr/>
          <p:nvPr/>
        </p:nvSpPr>
        <p:spPr>
          <a:xfrm>
            <a:off x="1097280" y="214884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Visualization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3566160" y="214884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matplotlib  •  seaborn  •  plotly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457200" y="3017520"/>
            <a:ext cx="2926080" cy="777240"/>
          </a:xfrm>
          <a:prstGeom prst="rect">
            <a:avLst/>
          </a:prstGeom>
          <a:solidFill>
            <a:srgbClr val="0D8FA8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2735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1"/>
          <p:cNvSpPr/>
          <p:nvPr/>
        </p:nvSpPr>
        <p:spPr>
          <a:xfrm>
            <a:off x="1097280" y="301752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 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3566160" y="301752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scipy  •  statsmodels  •  scikit-learn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457200" y="3886200"/>
            <a:ext cx="2926080" cy="777240"/>
          </a:xfrm>
          <a:prstGeom prst="rect">
            <a:avLst/>
          </a:prstGeom>
          <a:solidFill>
            <a:srgbClr val="00B4D8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41422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1"/>
          <p:cNvSpPr/>
          <p:nvPr/>
        </p:nvSpPr>
        <p:spPr>
          <a:xfrm>
            <a:off x="1097280" y="388620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A2239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3566160" y="388620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A8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7A8A"/>
                </a:solidFill>
                <a:latin typeface="Calibri"/>
                <a:ea typeface="Calibri"/>
                <a:cs typeface="Calibri"/>
                <a:sym typeface="Calibri"/>
              </a:rPr>
              <a:t>Jupyter  •  Google Slides  •  Streamlit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239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-1577200" y="2834650"/>
            <a:ext cx="3657600" cy="3657600"/>
          </a:xfrm>
          <a:prstGeom prst="ellipse">
            <a:avLst/>
          </a:prstGeom>
          <a:solidFill>
            <a:srgbClr val="065A8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5200"/>
              <a:buFont typeface="Impact"/>
              <a:buNone/>
            </a:pPr>
            <a:r>
              <a:rPr b="1" i="0" lang="en-US" sz="5200" u="none" cap="none" strike="noStrike">
                <a:solidFill>
                  <a:srgbClr val="00D9FF"/>
                </a:solidFill>
                <a:latin typeface="Impact"/>
                <a:ea typeface="Impact"/>
                <a:cs typeface="Impact"/>
                <a:sym typeface="Impact"/>
              </a:rPr>
              <a:t>YOU'RE READY!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645983" y="1883658"/>
            <a:ext cx="411600" cy="4116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1645983" y="188365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Impact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2194622" y="1883658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7F9FB"/>
                </a:solidFill>
                <a:latin typeface="Calibri"/>
                <a:ea typeface="Calibri"/>
                <a:cs typeface="Calibri"/>
                <a:sym typeface="Calibri"/>
              </a:rPr>
              <a:t>Clean your data thoroughly before 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1645983" y="2359146"/>
            <a:ext cx="411600" cy="4116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1645983" y="2359146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Impact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2194622" y="2359146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7F9FB"/>
                </a:solidFill>
                <a:latin typeface="Calibri"/>
                <a:ea typeface="Calibri"/>
                <a:cs typeface="Calibri"/>
                <a:sym typeface="Calibri"/>
              </a:rPr>
              <a:t>Use visualizations to uncover patterns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645983" y="2834634"/>
            <a:ext cx="411600" cy="4116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1645983" y="2834634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Impact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2194622" y="2834634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7F9FB"/>
                </a:solidFill>
                <a:latin typeface="Calibri"/>
                <a:ea typeface="Calibri"/>
                <a:cs typeface="Calibri"/>
                <a:sym typeface="Calibri"/>
              </a:rPr>
              <a:t>Focus on answering business questions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1645983" y="3310121"/>
            <a:ext cx="411600" cy="4116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1645983" y="331012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Impact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2194622" y="3310121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7F9FB"/>
                </a:solidFill>
                <a:latin typeface="Calibri"/>
                <a:ea typeface="Calibri"/>
                <a:cs typeface="Calibri"/>
                <a:sym typeface="Calibri"/>
              </a:rPr>
              <a:t>Present insights, not just numbers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645983" y="3785610"/>
            <a:ext cx="411600" cy="4116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1645983" y="378561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239"/>
              </a:buClr>
              <a:buSzPts val="2000"/>
              <a:buFont typeface="Impact"/>
              <a:buNone/>
            </a:pPr>
            <a:r>
              <a:rPr b="1" i="0" lang="en-US" sz="2000" u="none" cap="none" strike="noStrike">
                <a:solidFill>
                  <a:srgbClr val="0A2239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194622" y="3785610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7F9FB"/>
                </a:solidFill>
                <a:latin typeface="Calibri"/>
                <a:ea typeface="Calibri"/>
                <a:cs typeface="Calibri"/>
                <a:sym typeface="Calibri"/>
              </a:rPr>
              <a:t>Practice makes perfect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2286000" y="4389120"/>
            <a:ext cx="4572000" cy="457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400"/>
              <a:buFont typeface="Georgia"/>
              <a:buNone/>
            </a:pPr>
            <a:r>
              <a:rPr b="0" i="1" lang="en-US" sz="2400" u="none" cap="none" strike="noStrike">
                <a:solidFill>
                  <a:srgbClr val="00D9FF"/>
                </a:solidFill>
                <a:latin typeface="Georgia"/>
                <a:ea typeface="Georgia"/>
                <a:cs typeface="Georgia"/>
                <a:sym typeface="Georgia"/>
              </a:rPr>
              <a:t>Good luck at the datathon!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2026-02-13T18:47:08Z</dcterms:created>
  <dc:creator>Data Science Association</dc:creator>
</cp:coreProperties>
</file>