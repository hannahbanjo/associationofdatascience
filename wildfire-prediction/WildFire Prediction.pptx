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m1ugYa7SJmog+YF3pXcwpXRjp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64008"/>
            <a:ext cx="64008" cy="501548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56032" y="59436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WILDFIRE PREDICTION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56032" y="1572768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Georgia"/>
              <a:buNone/>
            </a:pPr>
            <a:r>
              <a:rPr b="0" i="1" lang="en-US" sz="2800" u="none" cap="none" strike="noStrike">
                <a:solidFill>
                  <a:srgbClr val="A8DADC"/>
                </a:solidFill>
                <a:latin typeface="Georgia"/>
                <a:ea typeface="Georgia"/>
                <a:cs typeface="Georgia"/>
                <a:sym typeface="Georgia"/>
              </a:rPr>
              <a:t>Using Satellite Imagery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56032" y="2286000"/>
            <a:ext cx="3657600" cy="457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56032" y="24231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Association of Data Science Workshop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Monday, March 16  ·  6–7 PM  ·  Woodward 154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56032" y="3383280"/>
            <a:ext cx="8686800" cy="141732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56032" y="3383280"/>
            <a:ext cx="64008" cy="14173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38912" y="34564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The big idea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38912" y="3767328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Satellites measure how much light the ground reflects at different wavelengths — and fire changes those reflectances dramatically. We'll turn those raw measurements into an ML model that detects active wildfires anywhere on Earth.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We're Building Today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005840"/>
            <a:ext cx="64008" cy="8046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02920" y="1005840"/>
            <a:ext cx="594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07008" y="109728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07008" y="142646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NASA fire detections + ESA Sentinel-2 spectral bands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1975104"/>
            <a:ext cx="8412480" cy="80467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1975104"/>
            <a:ext cx="64008" cy="804672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1975104"/>
            <a:ext cx="594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2A9D8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07008" y="2066544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Indices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07008" y="239572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NDVI, NBR, BAI, MIRBI — turning bands into fire signals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2944368"/>
            <a:ext cx="8412480" cy="80467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65760" y="2944368"/>
            <a:ext cx="64008" cy="804672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02920" y="2944368"/>
            <a:ext cx="594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457B9D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07008" y="303580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the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07008" y="3364992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Random Forest + XGBoost on 3,500 real satellite pixels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3913632"/>
            <a:ext cx="8412480" cy="80467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60" y="3913632"/>
            <a:ext cx="64008" cy="8046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02920" y="3913632"/>
            <a:ext cx="5943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07008" y="4005072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&amp; Visualize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07008" y="4334256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AUC-ROC, confusion matrix, interactive 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Source 1: NASA</a:t>
            </a:r>
            <a:r>
              <a:rPr b="1" lang="en-US"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FIRMS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Thermal heat detection — updated every 3 hours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3167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1316736"/>
            <a:ext cx="64008" cy="7498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66928" y="140817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NOAA-20 satellite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66928" y="17007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Orbits at ~830 km altitude, scanning Earth twice daily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22311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65760" y="2231136"/>
            <a:ext cx="64008" cy="7498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66928" y="232257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How it detects fire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66928" y="26151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Measures mid-infrared radiation at 3.7 μm — fire glows intensely here, normal land is nearly invisible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65760" y="3145536"/>
            <a:ext cx="64008" cy="7498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66928" y="323697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bright_ti4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66928" y="35295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Brightness temperature in Kelvin. Normal land ~300 K · Active fire 330–420 K+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65760" y="4059936"/>
            <a:ext cx="64008" cy="7498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66928" y="415137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frp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66928" y="44439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Fire Radiative Power (MW) — total heat energy released. Brush fire ~5 MW · Major wildfire 500+ MW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Source 2: ESA Sentinel-2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Spectral reflectance — 13 bands, 10–20 m resolution, every 5 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13167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65760" y="1316736"/>
            <a:ext cx="64008" cy="7498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66928" y="14081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What it measures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66928" y="17007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How much light the ground reflects at each wavelength — different surfaces have distinct spectral signatures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22311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65760" y="2231136"/>
            <a:ext cx="64008" cy="7498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66928" y="23225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Healthy plants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66928" y="26151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Absorb red (photosynthesis via chlorophyll) · Strongly bounce near-infrared (NIR) off leaf cell structure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65760" y="3145536"/>
            <a:ext cx="64008" cy="7498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66928" y="32369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Fire effect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66928" y="35295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Plant structure destroyed → NIR collapses · SWIR bands B11 &amp; B12 spike — burn scars glow at 1610–2190 nm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4059936"/>
            <a:ext cx="64008" cy="7498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66928" y="41513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66928" y="44439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Detects fire damage even days after a fire — the spectral scar persists long after flames are out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Four Bands We Use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Surface reflectance = fraction of incoming sunlight that bounces back to the satellite (0.0 → 1.0)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5760" y="1298448"/>
            <a:ext cx="8412480" cy="73152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365760" y="1298448"/>
            <a:ext cx="64008" cy="73152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66928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B4  Red    665 nm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999232" y="1408176"/>
            <a:ext cx="1325880" cy="256032"/>
          </a:xfrm>
          <a:prstGeom prst="roundRect">
            <a:avLst>
              <a:gd fmla="val 14286" name="adj"/>
            </a:avLst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999232" y="1408176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↑ Rises after fire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462272" y="1389888"/>
            <a:ext cx="4160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Healthy plants absorb red for photosynthesis — ash/char reflects it 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65760" y="2194560"/>
            <a:ext cx="8412480" cy="73152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65760" y="2194560"/>
            <a:ext cx="64008" cy="73152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66928" y="22677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52B788"/>
                </a:solidFill>
                <a:latin typeface="Consolas"/>
                <a:ea typeface="Consolas"/>
                <a:cs typeface="Consolas"/>
                <a:sym typeface="Consolas"/>
              </a:rPr>
              <a:t>B8  NIR    842 nm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999232" y="2304288"/>
            <a:ext cx="1325880" cy="256032"/>
          </a:xfrm>
          <a:prstGeom prst="roundRect">
            <a:avLst>
              <a:gd fmla="val 14286" name="adj"/>
            </a:avLst>
          </a:prstGeom>
          <a:solidFill>
            <a:srgbClr val="52B788">
              <a:alpha val="20000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2999232" y="230428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↓ Drops sharply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462272" y="2286000"/>
            <a:ext cx="4160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Healthy leaves bounce NIR off cell structure — fire destroys this immediately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3090672"/>
            <a:ext cx="8412480" cy="73152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65760" y="3090672"/>
            <a:ext cx="64008" cy="7315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66928" y="31638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B11 SWIR1  1610 nm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999232" y="3200400"/>
            <a:ext cx="1325880" cy="256032"/>
          </a:xfrm>
          <a:prstGeom prst="roundRect">
            <a:avLst>
              <a:gd fmla="val 14286" name="adj"/>
            </a:avLst>
          </a:prstGeom>
          <a:solidFill>
            <a:srgbClr val="F4A261">
              <a:alpha val="20000"/>
            </a:srgbClr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999232" y="3200400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↑ Rises strongly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462272" y="3182112"/>
            <a:ext cx="4160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Sensitive to moisture — dry and burned vegetation reflects shortwave-IR strongly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3986784"/>
            <a:ext cx="8412480" cy="73152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65760" y="3986784"/>
            <a:ext cx="64008" cy="73152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66928" y="40599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9C74F"/>
                </a:solidFill>
                <a:latin typeface="Consolas"/>
                <a:ea typeface="Consolas"/>
                <a:cs typeface="Consolas"/>
                <a:sym typeface="Consolas"/>
              </a:rPr>
              <a:t>B12 SWIR2  2190 nm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999232" y="4096512"/>
            <a:ext cx="1325880" cy="256032"/>
          </a:xfrm>
          <a:prstGeom prst="roundRect">
            <a:avLst>
              <a:gd fmla="val 14286" name="adj"/>
            </a:avLst>
          </a:prstGeom>
          <a:solidFill>
            <a:srgbClr val="F9C74F">
              <a:alpha val="20000"/>
            </a:srgbClr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2999232" y="409651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↑↑ Spikes highest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462272" y="4078224"/>
            <a:ext cx="4160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The primary fire band — flames and fresh burn scars are extremely bright at 2190 nm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Spectral Indices: Amplifying the Fire Signal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Ratios between bands cancel out noise (sun angle, haze, soil) and isolate what we care about.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" y="1298448"/>
            <a:ext cx="4206240" cy="1682496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65760" y="1298448"/>
            <a:ext cx="64008" cy="1682496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48640" y="138988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Arial Black"/>
                <a:ea typeface="Arial Black"/>
                <a:cs typeface="Arial Black"/>
                <a:sym typeface="Arial Black"/>
              </a:rPr>
              <a:t>NDVI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177393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Range: −1 to +1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2011680"/>
            <a:ext cx="3886200" cy="329184"/>
          </a:xfrm>
          <a:prstGeom prst="roundRect">
            <a:avLst>
              <a:gd fmla="val 11111" name="adj"/>
            </a:avLst>
          </a:prstGeom>
          <a:solidFill>
            <a:srgbClr val="0D1117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48640" y="2011680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Consolas"/>
                <a:ea typeface="Consolas"/>
                <a:cs typeface="Consolas"/>
                <a:sym typeface="Consolas"/>
              </a:rPr>
              <a:t>(NIR − Red) / (NIR + Red)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2414016"/>
            <a:ext cx="3886200" cy="347472"/>
          </a:xfrm>
          <a:prstGeom prst="roundRect">
            <a:avLst>
              <a:gd fmla="val 10526" name="adj"/>
            </a:avLst>
          </a:prstGeom>
          <a:solidFill>
            <a:srgbClr val="52B788">
              <a:alpha val="14901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48640" y="241401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Fire </a:t>
            </a:r>
            <a:r>
              <a:rPr b="1" i="0" lang="en-US" sz="14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Drops — veg destroyed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60" y="3145536"/>
            <a:ext cx="4206240" cy="1682496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5760" y="3145536"/>
            <a:ext cx="64008" cy="1682496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48640" y="32369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NBR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362102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Range: −1 to +1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3858768"/>
            <a:ext cx="3886200" cy="329184"/>
          </a:xfrm>
          <a:prstGeom prst="roundRect">
            <a:avLst>
              <a:gd fmla="val 11111" name="adj"/>
            </a:avLst>
          </a:prstGeom>
          <a:solidFill>
            <a:srgbClr val="0D1117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48640" y="3858768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(NIR − SWIR2) / (NIR + SWIR2)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4261104"/>
            <a:ext cx="3886200" cy="347472"/>
          </a:xfrm>
          <a:prstGeom prst="roundRect">
            <a:avLst>
              <a:gd fmla="val 10526" name="adj"/>
            </a:avLst>
          </a:prstGeom>
          <a:solidFill>
            <a:srgbClr val="F4A261">
              <a:alpha val="14901"/>
            </a:srgbClr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48640" y="4261104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 Goes negative — burn scar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00600" y="1298448"/>
            <a:ext cx="4206240" cy="1682496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800600" y="1298448"/>
            <a:ext cx="64008" cy="1682496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983480" y="138988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BAI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83480" y="177393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Range: 1 to 1000+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983480" y="2011680"/>
            <a:ext cx="3886200" cy="329184"/>
          </a:xfrm>
          <a:prstGeom prst="roundRect">
            <a:avLst>
              <a:gd fmla="val 11111" name="adj"/>
            </a:avLst>
          </a:prstGeom>
          <a:solidFill>
            <a:srgbClr val="0D1117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983480" y="2011680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1 / ((0.1−Red)² + (0.06−NIR)²)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983480" y="2414016"/>
            <a:ext cx="3886200" cy="347472"/>
          </a:xfrm>
          <a:prstGeom prst="roundRect">
            <a:avLst>
              <a:gd fmla="val 10526" name="adj"/>
            </a:avLst>
          </a:prstGeom>
          <a:solidFill>
            <a:srgbClr val="E63946">
              <a:alpha val="14901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983480" y="241401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 Spikes — active fire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800600" y="3145536"/>
            <a:ext cx="4206240" cy="1682496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800600" y="3145536"/>
            <a:ext cx="64008" cy="1682496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983480" y="32369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9C74F"/>
                </a:solidFill>
                <a:latin typeface="Arial Black"/>
                <a:ea typeface="Arial Black"/>
                <a:cs typeface="Arial Black"/>
                <a:sym typeface="Arial Black"/>
              </a:rPr>
              <a:t>MIRBI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983480" y="362102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Range: −2 to +10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983480" y="3858768"/>
            <a:ext cx="3886200" cy="329184"/>
          </a:xfrm>
          <a:prstGeom prst="roundRect">
            <a:avLst>
              <a:gd fmla="val 11111" name="adj"/>
            </a:avLst>
          </a:prstGeom>
          <a:solidFill>
            <a:srgbClr val="0D1117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983480" y="3858768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9C74F"/>
                </a:solidFill>
                <a:latin typeface="Consolas"/>
                <a:ea typeface="Consolas"/>
                <a:cs typeface="Consolas"/>
                <a:sym typeface="Consolas"/>
              </a:rPr>
              <a:t>10×SWIR2 − 9.8×SWIR1 + 2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983480" y="4261104"/>
            <a:ext cx="3886200" cy="347472"/>
          </a:xfrm>
          <a:prstGeom prst="roundRect">
            <a:avLst>
              <a:gd fmla="val 10526" name="adj"/>
            </a:avLst>
          </a:prstGeom>
          <a:solidFill>
            <a:srgbClr val="F9C74F">
              <a:alpha val="14901"/>
            </a:srgbClr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983480" y="4261104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r>
              <a:rPr b="1" i="0" lang="en-US" sz="14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 Rises — burning surface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Workshop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3,560 pixels · 10 real wildfire events · 2020–2023  ·  fire_label: 1 = fire,  0 = non-fire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" y="1298448"/>
            <a:ext cx="4160520" cy="352044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65760" y="1298448"/>
            <a:ext cx="64008" cy="35204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48640" y="1389888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Fire events included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1810512"/>
            <a:ext cx="512064" cy="274320"/>
          </a:xfrm>
          <a:prstGeom prst="roundRect">
            <a:avLst>
              <a:gd fmla="val 13333" name="adj"/>
            </a:avLst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48640" y="1810512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43000" y="1828800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Creek Fire,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" y="2340864"/>
            <a:ext cx="512064" cy="274320"/>
          </a:xfrm>
          <a:prstGeom prst="roundRect">
            <a:avLst>
              <a:gd fmla="val 13333" name="adj"/>
            </a:avLst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48640" y="2340864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143000" y="235915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Dixie · Caldor · Bootleg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2871216"/>
            <a:ext cx="512064" cy="274320"/>
          </a:xfrm>
          <a:prstGeom prst="roundRect">
            <a:avLst>
              <a:gd fmla="val 13333" name="adj"/>
            </a:avLst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48640" y="2871216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143000" y="2889504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McKinney Fire, 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" y="3401568"/>
            <a:ext cx="512064" cy="274320"/>
          </a:xfrm>
          <a:prstGeom prst="roundRect">
            <a:avLst>
              <a:gd fmla="val 13333" name="adj"/>
            </a:avLst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" y="3401568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143000" y="341985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Canada BC + Alberta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3931920"/>
            <a:ext cx="512064" cy="274320"/>
          </a:xfrm>
          <a:prstGeom prst="roundRect">
            <a:avLst>
              <a:gd fmla="val 13333" name="adj"/>
            </a:avLst>
          </a:prstGeom>
          <a:solidFill>
            <a:srgbClr val="E63946">
              <a:alpha val="20000"/>
            </a:srgbClr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8640" y="393192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43000" y="395020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Chile · Maui · Siberia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754880" y="1298448"/>
            <a:ext cx="4069080" cy="352044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754880" y="1298448"/>
            <a:ext cx="64008" cy="3520440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937760" y="1389888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57B9D"/>
                </a:solidFill>
                <a:latin typeface="Calibri"/>
                <a:ea typeface="Calibri"/>
                <a:cs typeface="Calibri"/>
                <a:sym typeface="Calibri"/>
              </a:rPr>
              <a:t>Each row contains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937760" y="18105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FIRMS columns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937760" y="2084832"/>
            <a:ext cx="3657600" cy="274320"/>
          </a:xfrm>
          <a:prstGeom prst="roundRect">
            <a:avLst>
              <a:gd fmla="val 10000" name="adj"/>
            </a:avLst>
          </a:prstGeom>
          <a:solidFill>
            <a:srgbClr val="E63946">
              <a:alpha val="12156"/>
            </a:srgbClr>
          </a:solidFill>
          <a:ln cap="flat" cmpd="sng" w="12700">
            <a:solidFill>
              <a:srgbClr val="E6394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5047488" y="208483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latitude, longitude, acq_date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937760" y="2414016"/>
            <a:ext cx="3657600" cy="274320"/>
          </a:xfrm>
          <a:prstGeom prst="roundRect">
            <a:avLst>
              <a:gd fmla="val 10000" name="adj"/>
            </a:avLst>
          </a:prstGeom>
          <a:solidFill>
            <a:srgbClr val="E63946">
              <a:alpha val="12156"/>
            </a:srgbClr>
          </a:solidFill>
          <a:ln cap="flat" cmpd="sng" w="12700">
            <a:solidFill>
              <a:srgbClr val="E6394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5047488" y="241401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bright_ti4 (K),  frp (MW),  confidence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937760" y="28529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Sentinel-2 bands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937760" y="3127248"/>
            <a:ext cx="3657600" cy="274320"/>
          </a:xfrm>
          <a:prstGeom prst="roundRect">
            <a:avLst>
              <a:gd fmla="val 10000" name="adj"/>
            </a:avLst>
          </a:prstGeom>
          <a:solidFill>
            <a:srgbClr val="2A9D8F">
              <a:alpha val="12156"/>
            </a:srgbClr>
          </a:solidFill>
          <a:ln cap="flat" cmpd="sng" w="12700">
            <a:solidFill>
              <a:srgbClr val="2A9D8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047488" y="31272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B4_Red,  B8_NIR,  B11_SWIR1,  B12_SWIR2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937760" y="35661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Spectral indices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937760" y="3840480"/>
            <a:ext cx="3657600" cy="274320"/>
          </a:xfrm>
          <a:prstGeom prst="roundRect">
            <a:avLst>
              <a:gd fmla="val 10000" name="adj"/>
            </a:avLst>
          </a:prstGeom>
          <a:solidFill>
            <a:srgbClr val="52B788">
              <a:alpha val="12156"/>
            </a:srgbClr>
          </a:solidFill>
          <a:ln cap="flat" cmpd="sng" w="12700">
            <a:solidFill>
              <a:srgbClr val="52B78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5047488" y="38404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NDVI,  NBR,  BAI_log,  MIRBI,  SWIR_ratio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Training the Classifier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365760" y="9326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 spectral-only features 75 / 25 train-test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65760" y="13167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2A9D8F">
              <a:alpha val="14901"/>
            </a:srgbClr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65760" y="13167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B4 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182112" y="13167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2A9D8F">
              <a:alpha val="14901"/>
            </a:srgbClr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182112" y="13167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B8 NIR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998464" y="13167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2A9D8F">
              <a:alpha val="14901"/>
            </a:srgbClr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998464" y="13167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B11 SWIR1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5760" y="17739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2A9D8F">
              <a:alpha val="14901"/>
            </a:srgbClr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365760" y="17739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B12 SWIR2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182112" y="17739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52B788">
              <a:alpha val="14901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182112" y="17739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NDVI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998464" y="17739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52B788">
              <a:alpha val="14901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998464" y="17739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NBR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5760" y="22311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52B788">
              <a:alpha val="14901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365760" y="22311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BAI 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182112" y="22311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52B788">
              <a:alpha val="14901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3182112" y="22311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MIRBI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998464" y="2231136"/>
            <a:ext cx="2651760" cy="329184"/>
          </a:xfrm>
          <a:prstGeom prst="roundRect">
            <a:avLst>
              <a:gd fmla="val 13889" name="adj"/>
            </a:avLst>
          </a:prstGeom>
          <a:solidFill>
            <a:srgbClr val="52B788">
              <a:alpha val="14901"/>
            </a:srgbClr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998464" y="2231136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SWIR ratio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60" y="2816352"/>
            <a:ext cx="4206240" cy="196596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365760" y="2816352"/>
            <a:ext cx="64008" cy="1965960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48640" y="29077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457B9D"/>
                </a:solidFill>
                <a:latin typeface="Arial Black"/>
                <a:ea typeface="Arial Black"/>
                <a:cs typeface="Arial Black"/>
                <a:sym typeface="Arial Black"/>
              </a:rPr>
              <a:t>Random Forest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48640" y="3310128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200 independent trees, each trained on a random data + feature subset. Final answer = majority vote. Good for feature importance.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00600" y="2816352"/>
            <a:ext cx="4206240" cy="196596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800600" y="2816352"/>
            <a:ext cx="64008" cy="19659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983480" y="29077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XGBoost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983480" y="3310128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300 trees built sequentially — each corrects the previous one's mistakes. Typically higher accuracy on tabular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Not Just Use Accuracy?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65760" y="896112"/>
            <a:ext cx="502920" cy="41148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365760" y="1024128"/>
            <a:ext cx="8412480" cy="128016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65760" y="1024128"/>
            <a:ext cx="64008" cy="128016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48640" y="111556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Only ~5–15% of satellite pixels are on fire at any time.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48640" y="1499616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model that predicts "no fire" for everything would be 85–95% accurate — but completely useless.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65760" y="2542032"/>
            <a:ext cx="2651760" cy="224028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365760" y="2542032"/>
            <a:ext cx="2651760" cy="64008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02920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02920" y="3054096"/>
            <a:ext cx="2377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Separates fire from non-fire at every threshold. 1.0 = perfect, 0.5 = random. Immune to class imbalance.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200400" y="2542032"/>
            <a:ext cx="2651760" cy="224028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3200400" y="2542032"/>
            <a:ext cx="2651760" cy="64008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3337560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57B9D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337560" y="3054096"/>
            <a:ext cx="2377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Of pixels flagged as fire, what fraction are actually fire? Low = too many false alarms.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035040" y="2542032"/>
            <a:ext cx="2651760" cy="2240280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035040" y="2542032"/>
            <a:ext cx="265176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172200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72200" y="3054096"/>
            <a:ext cx="2377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Of actual fire pixels, what fraction did we catch? Low = missed fires — the most dangerous failure.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End-to-End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65760" y="969264"/>
            <a:ext cx="4206240" cy="117043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65760" y="969264"/>
            <a:ext cx="64008" cy="117043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48640" y="969264"/>
            <a:ext cx="4114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024128" y="110642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024128" y="148132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3,560 pixels from 10 real fires · FIRMS schema + S2 bands + indices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65760" y="2313432"/>
            <a:ext cx="4206240" cy="117043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365760" y="2313432"/>
            <a:ext cx="64008" cy="1170432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548640" y="2313432"/>
            <a:ext cx="4114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2A9D8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024128" y="24505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the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024128" y="2825496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Distribution plots: raw bands vs. spectral indices — see what separates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3657600"/>
            <a:ext cx="4206240" cy="117043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65760" y="3657600"/>
            <a:ext cx="64008" cy="117043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48640" y="3657600"/>
            <a:ext cx="4114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024128" y="37947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024128" y="4169664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NDVI, NBR, BAI, MIRBI, SWIR ratio — cancels noise, amplifies fire signal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800600" y="969264"/>
            <a:ext cx="4206240" cy="117043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4800600" y="969264"/>
            <a:ext cx="64008" cy="1170432"/>
          </a:xfrm>
          <a:prstGeom prst="rect">
            <a:avLst/>
          </a:prstGeom>
          <a:solidFill>
            <a:srgbClr val="457B9D"/>
          </a:solidFill>
          <a:ln cap="flat" cmpd="sng" w="12700">
            <a:solidFill>
              <a:srgbClr val="457B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4983480" y="969264"/>
            <a:ext cx="4114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457B9D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458968" y="110642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+ evaluate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458968" y="148132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RF + XGBoost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800600" y="2313432"/>
            <a:ext cx="4206240" cy="117043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800600" y="2313432"/>
            <a:ext cx="64008" cy="117043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4983480" y="2313432"/>
            <a:ext cx="4114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458968" y="24505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On: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 predictions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458968" y="2825496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Interactive Folium map — click any pixel for indices and probability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800600" y="3657600"/>
            <a:ext cx="4206240" cy="1170432"/>
          </a:xfrm>
          <a:prstGeom prst="rect">
            <a:avLst/>
          </a:prstGeom>
          <a:solidFill>
            <a:srgbClr val="1C2733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4800600" y="3657600"/>
            <a:ext cx="64008" cy="1170432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983480" y="3657600"/>
            <a:ext cx="4114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9C74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458968" y="37947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On: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458968" y="4169664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Add thermal features (frp, bright_ti4) — watch AUC change and discuss why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2026-03-16T02:00:12Z</dcterms:created>
  <dc:creator>PptxGenJS</dc:creator>
</cp:coreProperties>
</file>